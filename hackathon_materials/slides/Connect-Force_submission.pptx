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1d776768f8bb48e7" Type="http://schemas.openxmlformats.org/officeDocument/2006/relationships/extended-properties" Target="docProps/app.xml"/><Relationship Id="R3481324ac0684c65" Type="http://schemas.openxmlformats.org/package/2006/relationships/metadata/core-properties" Target="docProps/core.xml"/><Relationship Id="R59f58d4c330d4ba4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eb8e93f32641ab"/>
  </p:sldMasterIdLst>
  <p:notesMasterIdLst>
    <p:notesMasterId xmlns:r="http://schemas.openxmlformats.org/officeDocument/2006/relationships" r:id="R64c5e7145d734aff"/>
  </p:notesMasterIdLst>
  <p:sldIdLst>
    <p:sldId xmlns:ns0="http://schemas.openxmlformats.org/officeDocument/2006/relationships" id="256" ns0:id="rId7"/>
    <p:sldId xmlns:ns0="http://schemas.openxmlformats.org/officeDocument/2006/relationships" id="257" ns0:id="rId8"/>
    <p:sldId xmlns:ns0="http://schemas.openxmlformats.org/officeDocument/2006/relationships" id="258" ns0:id="rId9"/>
    <p:sldId xmlns:ns0="http://schemas.openxmlformats.org/officeDocument/2006/relationships" id="259" ns0:id="rId10"/>
    <p:sldId xmlns:ns0="http://schemas.openxmlformats.org/officeDocument/2006/relationships" id="260" ns0:id="rId11"/>
    <p:sldId xmlns:ns0="http://schemas.openxmlformats.org/officeDocument/2006/relationships" id="261" ns0:id="rId12"/>
    <p:sldId xmlns:ns0="http://schemas.openxmlformats.org/officeDocument/2006/relationships" id="262" ns0:id="rId13"/>
    <p:sldId xmlns:ns0="http://schemas.openxmlformats.org/officeDocument/2006/relationships" id="263" ns0:id="rId14"/>
    <p:sldId xmlns:ns0="http://schemas.openxmlformats.org/officeDocument/2006/relationships" id="264" ns0:id="rId15"/>
    <p:sldId xmlns:ns0="http://schemas.openxmlformats.org/officeDocument/2006/relationships" id="265" ns0:id="rId16"/>
    <p:sldId xmlns:ns0="http://schemas.openxmlformats.org/officeDocument/2006/relationships" id="266" ns0:id="rId17"/>
    <p:sldId xmlns:ns0="http://schemas.openxmlformats.org/officeDocument/2006/relationships" id="267" ns0:id="rId1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03c6d1e4ed004a96" Type="http://schemas.openxmlformats.org/officeDocument/2006/relationships/viewProps" Target="viewProps.xml"/><Relationship Id="R59eb8e93f32641ab" Type="http://schemas.openxmlformats.org/officeDocument/2006/relationships/slideMaster" Target="slideMasters/slideMaster1.xml"/><Relationship Id="R64c5e7145d734aff" Type="http://schemas.openxmlformats.org/officeDocument/2006/relationships/notesMaster" Target="notesMasters/notesMaster1.xml"/><Relationship Id="R818eacfb3cc84eff" Type="http://schemas.openxmlformats.org/officeDocument/2006/relationships/theme" Target="theme/theme1.xml"/><Relationship Id="R9b373699d836415d" Type="http://schemas.openxmlformats.org/officeDocument/2006/relationships/presProps" Target="presProps.xml"/><Relationship Id="Rb0d3eb73a12049ee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44151440d1fb46b0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一言で：物にかざすと経緯が開く。会話を聞いて、次の業務の資料とメールを、下書きまで作る。送るのは人。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一言で：この 4 番目（資料づくりと連絡）を、その場で引き受ける。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f19f5d51aec849d5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c4f03e2d236c4ec5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b132d88becc34963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26fc2ff0d4814f30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7b7ee252fc8b408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d2b9426b3c464df4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a61c306af1a347eb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8fc029e06225499a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20c06d0928f145b0" Type="http://schemas.openxmlformats.org/officeDocument/2006/relationships/slideMaster" Target="../slideMasters/slideMaster1.xml"/><Relationship Id="R3ce03af58cac4644" Type="http://schemas.openxmlformats.org/officeDocument/2006/relationships/image" Target="../media/image.png"/></Relationships>
</file>

<file path=ppt/slideLayouts/_rels/slideLayout10.xml.rels><?xml version='1.0' encoding='UTF-8' standalone='yes'?>
<Relationships xmlns="http://schemas.openxmlformats.org/package/2006/relationships"><Relationship Id="Rb6df74f8d51e40ed" Type="http://schemas.openxmlformats.org/officeDocument/2006/relationships/slideMaster" Target="../slideMasters/slideMaster1.xml"/><Relationship Id="Rdac36a8c32654fee" Type="http://schemas.openxmlformats.org/officeDocument/2006/relationships/image" Target="../media/image2.png"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9.xml><?xml version="1.0" encoding="utf-8"?>
<p:sldLayout xmlns:p="http://schemas.openxmlformats.org/presentationml/2006/main" preserve="1" userDrawn="1">
  <p:cSld name="36 Field Grid">
    <p:bg>
      <p:bgPr>
        <a:blipFill xmlns:a="http://schemas.openxmlformats.org/drawingml/2006/main" rotWithShape="1">
          <a:blip xmlns:r="http://schemas.openxmlformats.org/officeDocument/2006/relationships" r:embed="R3ce03af58cac4644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preserve="1" userDrawn="1">
  <p:cSld name="48 Field Grid">
    <p:bg>
      <p:bgPr>
        <a:blipFill xmlns:a="http://schemas.openxmlformats.org/drawingml/2006/main" rotWithShape="1">
          <a:blip xmlns:r="http://schemas.openxmlformats.org/officeDocument/2006/relationships" r:embed="Rdac36a8c32654fee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2677bbe6ecf945c2" Type="http://schemas.openxmlformats.org/officeDocument/2006/relationships/slideLayout" Target="../slideLayouts/slideLayout5.xml"/><Relationship Id="R538f77fcda594f7d" Type="http://schemas.openxmlformats.org/officeDocument/2006/relationships/slideLayout" Target="../slideLayouts/slideLayout1.xml"/><Relationship Id="R559f7e7587e24187" Type="http://schemas.openxmlformats.org/officeDocument/2006/relationships/slideLayout" Target="../slideLayouts/slideLayout7.xml"/><Relationship Id="R6ea4c405e852478e" Type="http://schemas.openxmlformats.org/officeDocument/2006/relationships/slideLayout" Target="../slideLayouts/slideLayout4.xml"/><Relationship Id="R85a3411d714c4b4b" Type="http://schemas.openxmlformats.org/officeDocument/2006/relationships/slideLayout" Target="../slideLayouts/slideLayout6.xml"/><Relationship Id="R85ea4763138343a4" Type="http://schemas.openxmlformats.org/officeDocument/2006/relationships/slideLayout" Target="../slideLayouts/slideLayout3.xml"/><Relationship Id="Ra36715fbcea94c7b" Type="http://schemas.openxmlformats.org/officeDocument/2006/relationships/slideLayout" Target="../slideLayouts/slideLayout2.xml"/><Relationship Id="Ra704987e851944d3" Type="http://schemas.openxmlformats.org/officeDocument/2006/relationships/slideLayout" Target="../slideLayouts/slideLayout10.xml"/><Relationship Id="Rb0212397e7244c2b" Type="http://schemas.openxmlformats.org/officeDocument/2006/relationships/slideLayout" Target="../slideLayouts/slideLayout9.xml"/><Relationship Id="Rd2feadf5eaa44509" Type="http://schemas.openxmlformats.org/officeDocument/2006/relationships/theme" Target="theme/theme2.xml"/><Relationship Id="Rf89d855f7de947ff" Type="http://schemas.openxmlformats.org/officeDocument/2006/relationships/slideLayout" Target="../slideLayouts/slideLayout8.xml"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9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9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38f77fcda594f7d"/>
    <p:sldLayoutId xmlns:r="http://schemas.openxmlformats.org/officeDocument/2006/relationships" id="2147483650" r:id="Ra36715fbcea94c7b"/>
    <p:sldLayoutId xmlns:r="http://schemas.openxmlformats.org/officeDocument/2006/relationships" id="2147483651" r:id="R85ea4763138343a4"/>
    <p:sldLayoutId xmlns:r="http://schemas.openxmlformats.org/officeDocument/2006/relationships" id="2147483652" r:id="R6ea4c405e852478e"/>
    <p:sldLayoutId xmlns:r="http://schemas.openxmlformats.org/officeDocument/2006/relationships" id="2147483653" r:id="R2677bbe6ecf945c2"/>
    <p:sldLayoutId xmlns:r="http://schemas.openxmlformats.org/officeDocument/2006/relationships" id="2147483654" r:id="R85a3411d714c4b4b"/>
    <p:sldLayoutId xmlns:r="http://schemas.openxmlformats.org/officeDocument/2006/relationships" id="2147483655" r:id="R559f7e7587e24187"/>
    <p:sldLayoutId xmlns:r="http://schemas.openxmlformats.org/officeDocument/2006/relationships" id="2147483656" r:id="Rf89d855f7de947ff"/>
    <p:sldLayoutId xmlns:r="http://schemas.openxmlformats.org/officeDocument/2006/relationships" id="2147483657" r:id="Rb0212397e7244c2b"/>
    <p:sldLayoutId xmlns:r="http://schemas.openxmlformats.org/officeDocument/2006/relationships" id="2147483658" r:id="Ra704987e851944d3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6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1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475488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50" b="0">
                <a:solidFill>
                  <a:srgbClr val="90A9C3"/>
                </a:solidFill>
                <a:latin typeface="Noto Sans JP"/>
              </a:rPr>
              <a:t>見るconnect × 物エージェント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2011680"/>
            <a:ext cx="9601200" cy="20116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800" b="0">
                <a:solidFill>
                  <a:srgbClr val="F4F8FC"/>
                </a:solidFill>
                <a:latin typeface="Noto Sans JP"/>
              </a:rPr>
              <a:t>Connect-Force</a:t>
            </a:r>
          </a:p>
          <a:p>
            <a:pPr algn="l"/>
            <a:r>
              <a:rPr sz="3800" b="0">
                <a:solidFill>
                  <a:srgbClr val="F4F8FC"/>
                </a:solidFill>
                <a:latin typeface="Noto Sans JP"/>
              </a:rPr>
              <a:t>会話と画面から、次の業務を組み立てる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4389120"/>
            <a:ext cx="105156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0">
                <a:solidFill>
                  <a:srgbClr val="70C6F0"/>
                </a:solidFill>
                <a:latin typeface="Noto Sans JP"/>
              </a:rPr>
              <a:t>物にかざす → 経緯が開く → 会話から資料とメールの下書きまで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5029200"/>
            <a:ext cx="1078992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0">
                <a:solidFill>
                  <a:srgbClr val="DDE7F0"/>
                </a:solidFill>
                <a:latin typeface="Noto Sans JP"/>
              </a:rPr>
              <a:t>AIが選び、コードが守り、人が確定する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320040"/>
            <a:ext cx="10671048" cy="5669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000" b="1">
                <a:solidFill>
                  <a:srgbClr val="172433"/>
                </a:solidFill>
                <a:latin typeface="Noto Sans JP"/>
              </a:rPr>
              <a:t>こんな場面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914400"/>
            <a:ext cx="11247120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25" b="1">
                <a:solidFill>
                  <a:srgbClr val="2F80C9"/>
                </a:solidFill>
                <a:latin typeface="Noto Sans JP"/>
              </a:rPr>
              <a:t>現場から連絡が入る。対応を頼まれる。でも、受けた側も手が離せない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93424" y="6400800"/>
            <a:ext cx="329184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50" b="0">
                <a:solidFill>
                  <a:srgbClr val="5B6B7D"/>
                </a:solidFill>
                <a:latin typeface="Noto Sans JP"/>
              </a:rP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94960" cy="1874519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 w="1270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512064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0B315B"/>
                </a:solidFill>
                <a:latin typeface="Noto Sans JP"/>
              </a:rPr>
              <a:t>1 遠隔連絡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40280"/>
            <a:ext cx="51206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50" b="0">
                <a:solidFill>
                  <a:srgbClr val="172433"/>
                </a:solidFill>
                <a:latin typeface="Noto Sans JP"/>
              </a:rPr>
              <a:t>現場から「緊急トラブル発生」の連絡が入る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394960" cy="1874519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 w="1270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12064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0B315B"/>
                </a:solidFill>
                <a:latin typeface="Noto Sans JP"/>
              </a:rPr>
              <a:t>2 対応依頼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240280"/>
            <a:ext cx="51206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50" b="0">
                <a:solidFill>
                  <a:srgbClr val="172433"/>
                </a:solidFill>
                <a:latin typeface="Noto Sans JP"/>
              </a:rPr>
              <a:t>即時の対応が要請される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840479"/>
            <a:ext cx="5394960" cy="1874519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 w="1270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931919"/>
            <a:ext cx="512064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0B315B"/>
                </a:solidFill>
                <a:latin typeface="Noto Sans JP"/>
              </a:rPr>
              <a:t>3 対応困難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343399"/>
            <a:ext cx="51206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50" b="0">
                <a:solidFill>
                  <a:srgbClr val="172433"/>
                </a:solidFill>
                <a:latin typeface="Noto Sans JP"/>
              </a:rPr>
              <a:t>受けた側も多忙で手が離せず、「誰か代わりに対応してほしい」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840479"/>
            <a:ext cx="5394960" cy="1874519"/>
          </a:xfrm>
          <a:prstGeom prst="roundRect">
            <a:avLst>
              <a:gd name="adj" fmla="val 6000"/>
            </a:avLst>
          </a:prstGeom>
          <a:solidFill>
            <a:srgbClr val="EAF5FC"/>
          </a:solidFill>
          <a:ln w="12700">
            <a:solidFill>
              <a:srgbClr val="36A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3931919"/>
            <a:ext cx="512064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0B315B"/>
                </a:solidFill>
                <a:latin typeface="Noto Sans JP"/>
              </a:rPr>
              <a:t>4 必要なアクション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4343399"/>
            <a:ext cx="51206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50" b="0">
                <a:solidFill>
                  <a:srgbClr val="172433"/>
                </a:solidFill>
                <a:latin typeface="Noto Sans JP"/>
              </a:rPr>
              <a:t>状況を伝える資料づくり・共有、急ぎの発注メールに追われる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900" b="1">
                <a:solidFill>
                  <a:srgbClr val="0B315B"/>
                </a:solidFill>
                <a:latin typeface="Noto Sans JP"/>
              </a:rPr>
              <a:t>この 4 番目を、Connect-Force が引き受ける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320040"/>
            <a:ext cx="10671048" cy="5669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000" b="1">
                <a:solidFill>
                  <a:srgbClr val="172433"/>
                </a:solidFill>
                <a:latin typeface="Noto Sans JP"/>
              </a:rPr>
              <a:t>何ができるか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914400"/>
            <a:ext cx="11247120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25" b="1">
                <a:solidFill>
                  <a:srgbClr val="2F80C9"/>
                </a:solidFill>
                <a:latin typeface="Noto Sans JP"/>
              </a:rPr>
              <a:t>物や場所に貼ったQR・NFCから、担当・記録・経緯が開き、作業の成果は「動くカード」で渡せる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93424" y="6400800"/>
            <a:ext cx="329184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50" b="0">
                <a:solidFill>
                  <a:srgbClr val="5B6B7D"/>
                </a:solidFill>
                <a:latin typeface="Noto Sans JP"/>
              </a:rPr>
              <a:t>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3520440" cy="1874519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 w="1270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83080"/>
            <a:ext cx="324612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0B315B"/>
                </a:solidFill>
                <a:latin typeface="Noto Sans JP"/>
              </a:rPr>
              <a:t>物のページ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94560"/>
            <a:ext cx="324612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50" b="0">
                <a:solidFill>
                  <a:srgbClr val="172433"/>
                </a:solidFill>
                <a:latin typeface="Noto Sans JP"/>
              </a:rPr>
              <a:t>タグを読むと、担当・資料・これまでのカード・経緯の要約が開く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91640"/>
            <a:ext cx="3520440" cy="1874519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 w="1270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783080"/>
            <a:ext cx="324612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0B315B"/>
                </a:solidFill>
                <a:latin typeface="Noto Sans JP"/>
              </a:rPr>
              <a:t>動くカード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194560"/>
            <a:ext cx="324612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50" b="0">
                <a:solidFill>
                  <a:srgbClr val="172433"/>
                </a:solidFill>
                <a:latin typeface="Noto Sans JP"/>
              </a:rPr>
              <a:t>写真と声から説明文を作り、作業前後を見比べられる。リンクで渡す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691640"/>
            <a:ext cx="3520440" cy="1874519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 w="1270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783080"/>
            <a:ext cx="324612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0B315B"/>
                </a:solidFill>
                <a:latin typeface="Noto Sans JP"/>
              </a:rPr>
              <a:t>写真の保護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194560"/>
            <a:ext cx="324612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50" b="0">
                <a:solidFill>
                  <a:srgbClr val="172433"/>
                </a:solidFill>
                <a:latin typeface="Noto Sans JP"/>
              </a:rPr>
              <a:t>顔・ナンバー・書類は、送る前に端末で隠す。共有範囲は作り手が決める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94760"/>
            <a:ext cx="3520440" cy="1874519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 w="1270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886200"/>
            <a:ext cx="324612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0B315B"/>
                </a:solidFill>
                <a:latin typeface="Noto Sans JP"/>
              </a:rPr>
              <a:t>会話から次の業務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297680"/>
            <a:ext cx="324612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50" b="0">
                <a:solidFill>
                  <a:srgbClr val="172433"/>
                </a:solidFill>
                <a:latin typeface="Noto Sans JP"/>
              </a:rPr>
              <a:t>会話を文字にして確認し、「私はこう理解しました」で提案。合っていれば下書きに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3794760"/>
            <a:ext cx="3520440" cy="1874519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 w="1270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3886200"/>
            <a:ext cx="324612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0B315B"/>
                </a:solidFill>
                <a:latin typeface="Noto Sans JP"/>
              </a:rPr>
              <a:t>画面の分析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4297680"/>
            <a:ext cx="324612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50" b="0">
                <a:solidFill>
                  <a:srgbClr val="172433"/>
                </a:solidFill>
                <a:latin typeface="Noto Sans JP"/>
              </a:rPr>
              <a:t>通話の画面は、開けた所だけをAIが見る。残る顔・文字は指摘する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3794760"/>
            <a:ext cx="3520440" cy="1874519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 w="1270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3886200"/>
            <a:ext cx="324612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0B315B"/>
                </a:solidFill>
                <a:latin typeface="Noto Sans JP"/>
              </a:rPr>
              <a:t>資料の自動作成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4297680"/>
            <a:ext cx="324612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50" b="0">
                <a:solidFill>
                  <a:srgbClr val="172433"/>
                </a:solidFill>
                <a:latin typeface="Noto Sans JP"/>
              </a:rPr>
              <a:t>会話×画面から、Excelの表・Wordの説明・メールの下書きを作る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500" b="1">
                <a:solidFill>
                  <a:srgbClr val="0B315B"/>
                </a:solidFill>
                <a:latin typeface="Noto Sans JP"/>
              </a:rPr>
              <a:t>受け手はアプリ不要。リンクで見られ、受け手が次の作り手になる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320040"/>
            <a:ext cx="10671048" cy="5669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000" b="1">
                <a:solidFill>
                  <a:srgbClr val="172433"/>
                </a:solidFill>
                <a:latin typeface="Noto Sans JP"/>
              </a:rPr>
              <a:t>物エージェントの構成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914400"/>
            <a:ext cx="11247120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25" b="1">
                <a:solidFill>
                  <a:srgbClr val="2F80C9"/>
                </a:solidFill>
                <a:latin typeface="Noto Sans JP"/>
              </a:rPr>
              <a:t>元に戻せる判断はAI、元に戻せない操作と安全の境界はコード、確定は人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93424" y="6400800"/>
            <a:ext cx="329184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50" b="0">
                <a:solidFill>
                  <a:srgbClr val="5B6B7D"/>
                </a:solidFill>
                <a:latin typeface="Noto Sans JP"/>
              </a:rPr>
              <a:t>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468880"/>
            <a:ext cx="2103120" cy="1737360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 w="1270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606040"/>
            <a:ext cx="19202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650" b="1">
                <a:solidFill>
                  <a:srgbClr val="0B315B"/>
                </a:solidFill>
                <a:latin typeface="Noto Sans JP"/>
              </a:rPr>
              <a:t>入力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17520"/>
            <a:ext cx="19202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50" b="0">
                <a:solidFill>
                  <a:srgbClr val="172433"/>
                </a:solidFill>
                <a:latin typeface="Noto Sans JP"/>
              </a:rPr>
              <a:t>カード・履歴・期限</a:t>
            </a:r>
          </a:p>
          <a:p>
            <a:pPr algn="ctr"/>
            <a:r>
              <a:rPr sz="1350" b="0">
                <a:solidFill>
                  <a:srgbClr val="172433"/>
                </a:solidFill>
                <a:latin typeface="Noto Sans JP"/>
              </a:rPr>
              <a:t>会話の文字・画面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2011680"/>
            <a:ext cx="2743200" cy="2743200"/>
          </a:xfrm>
          <a:prstGeom prst="roundRect">
            <a:avLst>
              <a:gd name="adj" fmla="val 6000"/>
            </a:avLst>
          </a:prstGeom>
          <a:solidFill>
            <a:srgbClr val="EAF5FC"/>
          </a:solidFill>
          <a:ln w="12700">
            <a:solidFill>
              <a:srgbClr val="36A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2148840"/>
            <a:ext cx="25603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650" b="1">
                <a:solidFill>
                  <a:srgbClr val="0B315B"/>
                </a:solidFill>
                <a:latin typeface="Noto Sans JP"/>
              </a:rPr>
              <a:t>AIが選ぶ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560320"/>
            <a:ext cx="2560320" cy="21031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50" b="0">
                <a:solidFill>
                  <a:srgbClr val="172433"/>
                </a:solidFill>
                <a:latin typeface="Noto Sans JP"/>
              </a:rPr>
              <a:t>カードの種類・情報不足</a:t>
            </a:r>
          </a:p>
          <a:p>
            <a:pPr algn="ctr"/>
            <a:r>
              <a:rPr sz="1350" b="0">
                <a:solidFill>
                  <a:srgbClr val="172433"/>
                </a:solidFill>
                <a:latin typeface="Noto Sans JP"/>
              </a:rPr>
              <a:t>共有範囲を狭める提案</a:t>
            </a:r>
          </a:p>
          <a:p>
            <a:pPr algn="ctr"/>
            <a:r>
              <a:rPr sz="1350" b="0">
                <a:solidFill>
                  <a:srgbClr val="172433"/>
                </a:solidFill>
                <a:latin typeface="Noto Sans JP"/>
              </a:rPr>
              <a:t>次の業務の提案</a:t>
            </a:r>
          </a:p>
          <a:p>
            <a:pPr algn="ctr"/>
            <a:r>
              <a:rPr sz="1350" b="0">
                <a:solidFill>
                  <a:srgbClr val="172433"/>
                </a:solidFill>
                <a:latin typeface="Noto Sans JP"/>
              </a:rPr>
              <a:t>資料・メールの下書き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0" y="1691640"/>
            <a:ext cx="2377440" cy="1554480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 w="1270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0" y="1810512"/>
            <a:ext cx="21945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500" b="1">
                <a:solidFill>
                  <a:srgbClr val="0B315B"/>
                </a:solidFill>
                <a:latin typeface="Noto Sans JP"/>
              </a:rPr>
              <a:t>コードが確かめる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2194560"/>
            <a:ext cx="2194560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50" b="0">
                <a:solidFill>
                  <a:srgbClr val="172433"/>
                </a:solidFill>
                <a:latin typeface="Noto Sans JP"/>
              </a:rPr>
              <a:t>引用の実在</a:t>
            </a:r>
          </a:p>
          <a:p>
            <a:pPr algn="ctr"/>
            <a:r>
              <a:rPr sz="1350" b="0">
                <a:solidFill>
                  <a:srgbClr val="172433"/>
                </a:solidFill>
                <a:latin typeface="Noto Sans JP"/>
              </a:rPr>
              <a:t>個人情報・人名の検査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9440" y="3520440"/>
            <a:ext cx="2377440" cy="1554480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 w="1270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0" y="3639312"/>
            <a:ext cx="21945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650" b="1">
                <a:solidFill>
                  <a:srgbClr val="0B315B"/>
                </a:solidFill>
                <a:latin typeface="Noto Sans JP"/>
              </a:rPr>
              <a:t>AIに渡さない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4023360"/>
            <a:ext cx="2194560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50" b="0">
                <a:solidFill>
                  <a:srgbClr val="172433"/>
                </a:solidFill>
                <a:latin typeface="Noto Sans JP"/>
              </a:rPr>
              <a:t>リンク発行・共有拡大</a:t>
            </a:r>
          </a:p>
          <a:p>
            <a:pPr algn="ctr"/>
            <a:r>
              <a:rPr sz="1350" b="0">
                <a:solidFill>
                  <a:srgbClr val="172433"/>
                </a:solidFill>
                <a:latin typeface="Noto Sans JP"/>
              </a:rPr>
              <a:t>削除・送信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84080" y="2011680"/>
            <a:ext cx="1920240" cy="2743200"/>
          </a:xfrm>
          <a:prstGeom prst="roundRect">
            <a:avLst>
              <a:gd name="adj" fmla="val 6000"/>
            </a:avLst>
          </a:prstGeom>
          <a:solidFill>
            <a:srgbClr val="EFF8F3"/>
          </a:solidFill>
          <a:ln w="12700">
            <a:solidFill>
              <a:srgbClr val="A6D6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0" y="2148840"/>
            <a:ext cx="17373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650" b="1">
                <a:solidFill>
                  <a:srgbClr val="16805B"/>
                </a:solidFill>
                <a:latin typeface="Noto Sans JP"/>
              </a:rPr>
              <a:t>人が確定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0" y="2560320"/>
            <a:ext cx="1737360" cy="21031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50" b="0">
                <a:solidFill>
                  <a:srgbClr val="172433"/>
                </a:solidFill>
                <a:latin typeface="Noto Sans JP"/>
              </a:rPr>
              <a:t>確認する</a:t>
            </a:r>
          </a:p>
          <a:p>
            <a:pPr algn="ctr"/>
            <a:r>
              <a:rPr sz="1350" b="0">
                <a:solidFill>
                  <a:srgbClr val="172433"/>
                </a:solidFill>
                <a:latin typeface="Noto Sans JP"/>
              </a:rPr>
              <a:t>同意する</a:t>
            </a:r>
          </a:p>
          <a:p>
            <a:pPr algn="ctr"/>
            <a:r>
              <a:rPr sz="1350" b="0">
                <a:solidFill>
                  <a:srgbClr val="172433"/>
                </a:solidFill>
                <a:latin typeface="Noto Sans JP"/>
              </a:rPr>
              <a:t>承認する</a:t>
            </a:r>
          </a:p>
          <a:p>
            <a:pPr algn="ctr"/>
            <a:r>
              <a:rPr sz="1350" b="0">
                <a:solidFill>
                  <a:srgbClr val="172433"/>
                </a:solidFill>
                <a:latin typeface="Noto Sans JP"/>
              </a:rPr>
              <a:t>共有・送信は人が押す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670048" y="3337560"/>
            <a:ext cx="731520" cy="0"/>
          </a:xfrm>
          <a:prstGeom prst="line">
            <a:avLst/>
          </a:prstGeom>
          <a:ln w="28575">
            <a:solidFill>
              <a:srgbClr val="2F80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199632" y="2468880"/>
            <a:ext cx="722376" cy="0"/>
          </a:xfrm>
          <a:prstGeom prst="line">
            <a:avLst/>
          </a:prstGeom>
          <a:ln w="28575">
            <a:solidFill>
              <a:srgbClr val="2F80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199632" y="4297680"/>
            <a:ext cx="722376" cy="0"/>
          </a:xfrm>
          <a:prstGeom prst="line">
            <a:avLst/>
          </a:prstGeom>
          <a:ln w="28575">
            <a:solidFill>
              <a:srgbClr val="2F80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354312" y="2468880"/>
            <a:ext cx="402336" cy="0"/>
          </a:xfrm>
          <a:prstGeom prst="line">
            <a:avLst/>
          </a:prstGeom>
          <a:ln w="28575">
            <a:solidFill>
              <a:srgbClr val="2F80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354312" y="4297680"/>
            <a:ext cx="402336" cy="0"/>
          </a:xfrm>
          <a:prstGeom prst="line">
            <a:avLst/>
          </a:prstGeom>
          <a:ln w="28575">
            <a:solidFill>
              <a:srgbClr val="2F80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371600" y="5577840"/>
            <a:ext cx="941832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400" b="0">
                <a:solidFill>
                  <a:srgbClr val="5B6B7D"/>
                </a:solidFill>
                <a:latin typeface="Noto Sans JP"/>
              </a:rPr>
              <a:t>判断のたびに、選択・理由・裏付け・使ったモデル・原価を、判断ログに残す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320040"/>
            <a:ext cx="10671048" cy="5669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000" b="1">
                <a:solidFill>
                  <a:srgbClr val="172433"/>
                </a:solidFill>
                <a:latin typeface="Noto Sans JP"/>
              </a:rPr>
              <a:t>現場から連絡が来てからの流れ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914400"/>
            <a:ext cx="11247120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25" b="1">
                <a:solidFill>
                  <a:srgbClr val="2F80C9"/>
                </a:solidFill>
                <a:latin typeface="Noto Sans JP"/>
              </a:rPr>
              <a:t>電話の声と、共有された画面から、資料とメールの下書きまで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93424" y="6400800"/>
            <a:ext cx="329184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50" b="0">
                <a:solidFill>
                  <a:srgbClr val="5B6B7D"/>
                </a:solidFill>
                <a:latin typeface="Noto Sans JP"/>
              </a:rP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91640"/>
            <a:ext cx="3566160" cy="1874519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 w="1270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783080"/>
            <a:ext cx="329184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0B315B"/>
                </a:solidFill>
                <a:latin typeface="Noto Sans JP"/>
              </a:rPr>
              <a:t>1 共有画面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194560"/>
            <a:ext cx="32918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50" b="0">
                <a:solidFill>
                  <a:srgbClr val="172433"/>
                </a:solidFill>
                <a:latin typeface="Noto Sans JP"/>
              </a:rPr>
              <a:t>現場の画像を共有し、全面を隠す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691640"/>
            <a:ext cx="3566160" cy="1874519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 w="1270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783080"/>
            <a:ext cx="329184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0B315B"/>
                </a:solidFill>
                <a:latin typeface="Noto Sans JP"/>
              </a:rPr>
              <a:t>2 開ける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2194560"/>
            <a:ext cx="32918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50" b="0">
                <a:solidFill>
                  <a:srgbClr val="172433"/>
                </a:solidFill>
                <a:latin typeface="Noto Sans JP"/>
              </a:rPr>
              <a:t>対象の物だけ、なぞって囲んで開ける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691640"/>
            <a:ext cx="3566160" cy="1874519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 w="1270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783080"/>
            <a:ext cx="329184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0B315B"/>
                </a:solidFill>
                <a:latin typeface="Noto Sans JP"/>
              </a:rPr>
              <a:t>3 音声分析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194560"/>
            <a:ext cx="32918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50" b="0">
                <a:solidFill>
                  <a:srgbClr val="172433"/>
                </a:solidFill>
                <a:latin typeface="Noto Sans JP"/>
              </a:rPr>
              <a:t>電話の声を文字にして、確認する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840480"/>
            <a:ext cx="3566160" cy="1874519"/>
          </a:xfrm>
          <a:prstGeom prst="roundRect">
            <a:avLst>
              <a:gd name="adj" fmla="val 6000"/>
            </a:avLst>
          </a:prstGeom>
          <a:solidFill>
            <a:srgbClr val="EAF5FC"/>
          </a:solidFill>
          <a:ln w="12700">
            <a:solidFill>
              <a:srgbClr val="36A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931920"/>
            <a:ext cx="329184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0B315B"/>
                </a:solidFill>
                <a:latin typeface="Noto Sans JP"/>
              </a:rPr>
              <a:t>4 意味統合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343400"/>
            <a:ext cx="32918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50" b="0">
                <a:solidFill>
                  <a:srgbClr val="172433"/>
                </a:solidFill>
                <a:latin typeface="Noto Sans JP"/>
              </a:rPr>
              <a:t>会話と画面を結びつけ、対象に赤丸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3840480"/>
            <a:ext cx="3566160" cy="1874519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 w="1270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3931920"/>
            <a:ext cx="329184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0B315B"/>
                </a:solidFill>
                <a:latin typeface="Noto Sans JP"/>
              </a:rPr>
              <a:t>5 自動作成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4343400"/>
            <a:ext cx="32918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50" b="0">
                <a:solidFill>
                  <a:srgbClr val="172433"/>
                </a:solidFill>
                <a:latin typeface="Noto Sans JP"/>
              </a:rPr>
              <a:t>Excel・Word・メールの下書き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3840480"/>
            <a:ext cx="3566160" cy="1874519"/>
          </a:xfrm>
          <a:prstGeom prst="roundRect">
            <a:avLst>
              <a:gd name="adj" fmla="val 6000"/>
            </a:avLst>
          </a:prstGeom>
          <a:solidFill>
            <a:srgbClr val="EFF8F3"/>
          </a:solidFill>
          <a:ln w="12700">
            <a:solidFill>
              <a:srgbClr val="A6D6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3931920"/>
            <a:ext cx="329184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0B315B"/>
                </a:solidFill>
                <a:latin typeface="Noto Sans JP"/>
              </a:rPr>
              <a:t>6 選択肢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4343400"/>
            <a:ext cx="32918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50" b="0">
                <a:solidFill>
                  <a:srgbClr val="172433"/>
                </a:solidFill>
                <a:latin typeface="Noto Sans JP"/>
              </a:rPr>
              <a:t>共有／送信の準備（人が押す）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320040"/>
            <a:ext cx="10671048" cy="5669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000" b="1">
                <a:solidFill>
                  <a:srgbClr val="172433"/>
                </a:solidFill>
                <a:latin typeface="Noto Sans JP"/>
              </a:rPr>
              <a:t>通話画面：AIが見るのは、開けた所だけ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914400"/>
            <a:ext cx="11247120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25" b="1">
                <a:solidFill>
                  <a:srgbClr val="2F80C9"/>
                </a:solidFill>
                <a:latin typeface="Noto Sans JP"/>
              </a:rPr>
              <a:t>はじめ全面をブロックで隠し、なぞって囲んだ所だけを開ける。開けた面積は端末が測る（上限 20%）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93424" y="6400800"/>
            <a:ext cx="329184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50" b="0">
                <a:solidFill>
                  <a:srgbClr val="5B6B7D"/>
                </a:solidFill>
                <a:latin typeface="Noto Sans JP"/>
              </a:rPr>
              <a:t>6</a:t>
            </a:r>
          </a:p>
        </p:txBody>
      </p:sp>
      <p:pic>
        <p:nvPicPr>
          <p:cNvPr id="5" name="Picture 4" descr="07_vision_fil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6583680" cy="37033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0" y="1645920"/>
            <a:ext cx="4389120" cy="3840480"/>
          </a:xfrm>
          <a:prstGeom prst="roundRect">
            <a:avLst>
              <a:gd name="adj" fmla="val 6000"/>
            </a:avLst>
          </a:prstGeom>
          <a:solidFill>
            <a:srgbClr val="EAF5FC"/>
          </a:solidFill>
          <a:ln w="12700">
            <a:solidFill>
              <a:srgbClr val="36A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52360" y="1783080"/>
            <a:ext cx="4114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50" b="1">
                <a:solidFill>
                  <a:srgbClr val="0B315B"/>
                </a:solidFill>
                <a:latin typeface="Noto Sans JP"/>
              </a:rPr>
              <a:t>拡張モードの開け方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2286000"/>
            <a:ext cx="4114800" cy="3108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50" b="0">
                <a:solidFill>
                  <a:srgbClr val="172433"/>
                </a:solidFill>
                <a:latin typeface="Noto Sans JP"/>
              </a:rPr>
              <a:t>四角のドラッグに加えて、指・マウスでなぞって囲める</a:t>
            </a:r>
          </a:p>
          <a:p>
            <a:pPr algn="l"/>
            <a:r>
              <a:rPr sz="1450" b="0">
                <a:solidFill>
                  <a:srgbClr val="172433"/>
                </a:solidFill>
                <a:latin typeface="Noto Sans JP"/>
              </a:rPr>
              <a:t>面積は形から端末が測って表示</a:t>
            </a:r>
          </a:p>
          <a:p>
            <a:pPr algn="l"/>
            <a:r>
              <a:rPr sz="1450" b="0">
                <a:solidFill>
                  <a:srgbClr val="172433"/>
                </a:solidFill>
                <a:latin typeface="Noto Sans JP"/>
              </a:rPr>
              <a:t>サーバーが画素の見積もりで二重に確かめる</a:t>
            </a:r>
          </a:p>
          <a:p>
            <a:pPr algn="l"/>
            <a:r>
              <a:rPr sz="1450" b="0">
                <a:solidFill>
                  <a:srgbClr val="172433"/>
                </a:solidFill>
                <a:latin typeface="Noto Sans JP"/>
              </a:rPr>
              <a:t>旧来の四角だけの開け方とも切り替えられる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937760"/>
            <a:ext cx="65836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50" b="0">
                <a:solidFill>
                  <a:srgbClr val="5B6B7D"/>
                </a:solidFill>
                <a:latin typeface="Noto Sans JP"/>
              </a:rPr>
              <a:t>図は合成のブロック（実際の画面ではありません）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320040"/>
            <a:ext cx="10671048" cy="5669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000" b="1">
                <a:solidFill>
                  <a:srgbClr val="172433"/>
                </a:solidFill>
                <a:latin typeface="Noto Sans JP"/>
              </a:rPr>
              <a:t>資料とメールを自動作成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914400"/>
            <a:ext cx="11247120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25" b="1">
                <a:solidFill>
                  <a:srgbClr val="2F80C9"/>
                </a:solidFill>
                <a:latin typeface="Noto Sans JP"/>
              </a:rPr>
              <a:t>表はExcel、説明はWord、メールはGmailの作成画面へ。共有・送信は人が押したときだけ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93424" y="6400800"/>
            <a:ext cx="329184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50" b="0">
                <a:solidFill>
                  <a:srgbClr val="5B6B7D"/>
                </a:solidFill>
                <a:latin typeface="Noto Sans JP"/>
              </a:rPr>
              <a:t>7</a:t>
            </a:r>
          </a:p>
        </p:txBody>
      </p:sp>
      <p:pic>
        <p:nvPicPr>
          <p:cNvPr id="5" name="Picture 4" descr="13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6126480" cy="344614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766560" y="1554480"/>
            <a:ext cx="4937760" cy="4206240"/>
          </a:xfrm>
          <a:prstGeom prst="roundRect">
            <a:avLst>
              <a:gd name="adj" fmla="val 6000"/>
            </a:avLst>
          </a:prstGeom>
          <a:solidFill>
            <a:srgbClr val="EAF5FC"/>
          </a:solidFill>
          <a:ln w="12700">
            <a:solidFill>
              <a:srgbClr val="36A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03720" y="1691640"/>
            <a:ext cx="46634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50" b="1">
                <a:solidFill>
                  <a:srgbClr val="0B315B"/>
                </a:solidFill>
                <a:latin typeface="Noto Sans JP"/>
              </a:rPr>
              <a:t>次の選択肢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2194560"/>
            <a:ext cx="4663440" cy="3474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172433"/>
                </a:solidFill>
                <a:latin typeface="Noto Sans JP"/>
              </a:rPr>
              <a:t>共有：オーナーが決めたフォルダへ、表・文書をコピー</a:t>
            </a:r>
          </a:p>
          <a:p>
            <a:pPr algn="l"/>
            <a:r>
              <a:rPr sz="1400" b="0">
                <a:solidFill>
                  <a:srgbClr val="172433"/>
                </a:solidFill>
                <a:latin typeface="Noto Sans JP"/>
              </a:rPr>
              <a:t>送信の準備：Gmailの作成画面を開く（自分のGmailを設定すれば宛先に。送るのは人）</a:t>
            </a:r>
          </a:p>
          <a:p>
            <a:pPr algn="l"/>
            <a:r>
              <a:rPr sz="1400" b="0">
                <a:solidFill>
                  <a:srgbClr val="172433"/>
                </a:solidFill>
                <a:latin typeface="Noto Sans JP"/>
              </a:rPr>
              <a:t>編集：作成した下書きは、開いて直せる</a:t>
            </a:r>
          </a:p>
          <a:p>
            <a:pPr algn="l"/>
            <a:r>
              <a:rPr sz="1400" b="0">
                <a:solidFill>
                  <a:srgbClr val="172433"/>
                </a:solidFill>
                <a:latin typeface="Noto Sans JP"/>
              </a:rPr>
              <a:t>表の形が壊れたら、AIに2〜3通り作り直させ、Excelの複数シートに分ける</a:t>
            </a:r>
          </a:p>
          <a:p>
            <a:pPr algn="l"/>
            <a:r>
              <a:rPr sz="1400" b="0">
                <a:solidFill>
                  <a:srgbClr val="172433"/>
                </a:solidFill>
                <a:latin typeface="Noto Sans JP"/>
              </a:rPr>
              <a:t>AIは、共有も送信もしない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320040"/>
            <a:ext cx="10671048" cy="5669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000" b="1">
                <a:solidFill>
                  <a:srgbClr val="172433"/>
                </a:solidFill>
                <a:latin typeface="Noto Sans JP"/>
              </a:rPr>
              <a:t>守り方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914400"/>
            <a:ext cx="11247120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25" b="1">
                <a:solidFill>
                  <a:srgbClr val="2F80C9"/>
                </a:solidFill>
                <a:latin typeface="Noto Sans JP"/>
              </a:rPr>
              <a:t>守りはコードで書き、外れていないかをテストで固定する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93424" y="6400800"/>
            <a:ext cx="329184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50" b="0">
                <a:solidFill>
                  <a:srgbClr val="5B6B7D"/>
                </a:solidFill>
                <a:latin typeface="Noto Sans JP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600200"/>
            <a:ext cx="5394960" cy="2834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50" b="1">
                <a:solidFill>
                  <a:srgbClr val="16805B"/>
                </a:solidFill>
                <a:latin typeface="Noto Sans JP"/>
              </a:rPr>
              <a:t>画像と音声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2011680"/>
            <a:ext cx="5394960" cy="3474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50" b="0">
                <a:solidFill>
                  <a:srgbClr val="172433"/>
                </a:solidFill>
                <a:latin typeface="Noto Sans JP"/>
              </a:rPr>
              <a:t>写真は端末で隠してから送る。元の画像は、サーバーにもAIにも届かない</a:t>
            </a:r>
          </a:p>
          <a:p>
            <a:pPr algn="l"/>
            <a:r>
              <a:rPr sz="1450" b="0">
                <a:solidFill>
                  <a:srgbClr val="172433"/>
                </a:solidFill>
                <a:latin typeface="Noto Sans JP"/>
              </a:rPr>
              <a:t>通話の画面は、全面を隠し、開けた所だけをAIへ</a:t>
            </a:r>
          </a:p>
          <a:p>
            <a:pPr algn="l"/>
            <a:r>
              <a:rPr sz="1450" b="0">
                <a:solidFill>
                  <a:srgbClr val="172433"/>
                </a:solidFill>
                <a:latin typeface="Noto Sans JP"/>
              </a:rPr>
              <a:t>開けた面積は端末が測り、サーバーが画素で二重に確かめる</a:t>
            </a:r>
          </a:p>
          <a:p>
            <a:pPr algn="l"/>
            <a:r>
              <a:rPr sz="1450" b="0">
                <a:solidFill>
                  <a:srgbClr val="172433"/>
                </a:solidFill>
                <a:latin typeface="Noto Sans JP"/>
              </a:rPr>
              <a:t>音声は保存しない。文字を確認するまで、画像はAIに渡さない</a:t>
            </a:r>
          </a:p>
          <a:p>
            <a:pPr algn="l"/>
            <a:r>
              <a:rPr sz="1450" b="0">
                <a:solidFill>
                  <a:srgbClr val="172433"/>
                </a:solidFill>
                <a:latin typeface="Noto Sans JP"/>
              </a:rPr>
              <a:t>統合分析は、3つの設定とセッションごとの確認が揃ったときだけ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00200"/>
            <a:ext cx="5029200" cy="2834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50" b="1">
                <a:solidFill>
                  <a:srgbClr val="16805B"/>
                </a:solidFill>
                <a:latin typeface="Noto Sans JP"/>
              </a:rPr>
              <a:t>AIの出力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303520" cy="3474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50" b="0">
                <a:solidFill>
                  <a:srgbClr val="172433"/>
                </a:solidFill>
                <a:latin typeface="Noto Sans JP"/>
              </a:rPr>
              <a:t>根拠の引用が会話に実在しなければ捨てる</a:t>
            </a:r>
          </a:p>
          <a:p>
            <a:pPr algn="l"/>
            <a:r>
              <a:rPr sz="1450" b="0">
                <a:solidFill>
                  <a:srgbClr val="172433"/>
                </a:solidFill>
                <a:latin typeface="Noto Sans JP"/>
              </a:rPr>
              <a:t>個人情報の語・人名・長い数字列・指示への追従は、コードが捨てる</a:t>
            </a:r>
          </a:p>
          <a:p>
            <a:pPr algn="l"/>
            <a:r>
              <a:rPr sz="1450" b="0">
                <a:solidFill>
                  <a:srgbClr val="172433"/>
                </a:solidFill>
                <a:latin typeface="Noto Sans JP"/>
              </a:rPr>
              <a:t>送信・共有範囲の拡大・削除は、ツールとして渡さない</a:t>
            </a:r>
          </a:p>
          <a:p>
            <a:pPr algn="l"/>
            <a:r>
              <a:rPr sz="1450" b="0">
                <a:solidFill>
                  <a:srgbClr val="172433"/>
                </a:solidFill>
                <a:latin typeface="Noto Sans JP"/>
              </a:rPr>
              <a:t>共有先は、オーナーが決めた1か所のフォルダだけ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760720"/>
            <a:ext cx="1033272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700" b="1">
                <a:solidFill>
                  <a:srgbClr val="0B315B"/>
                </a:solidFill>
                <a:latin typeface="Noto Sans JP"/>
              </a:rPr>
              <a:t>自動テスト 885 件 ／ 門を外すと失敗する変異 49 か所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320040"/>
            <a:ext cx="10671048" cy="5669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000" b="1">
                <a:solidFill>
                  <a:srgbClr val="172433"/>
                </a:solidFill>
                <a:latin typeface="Noto Sans JP"/>
              </a:rPr>
              <a:t>同意の設計：AIの判断を、思いに合わせる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914400"/>
            <a:ext cx="11247120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25" b="1">
                <a:solidFill>
                  <a:srgbClr val="2F80C9"/>
                </a:solidFill>
                <a:latin typeface="Noto Sans JP"/>
              </a:rPr>
              <a:t>文字→確認→理解を見せる→同意→承認→下書き（送信はしない）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93424" y="6400800"/>
            <a:ext cx="329184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50" b="0">
                <a:solidFill>
                  <a:srgbClr val="5B6B7D"/>
                </a:solidFill>
                <a:latin typeface="Noto Sans JP"/>
              </a:rPr>
              <a:t>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011680"/>
            <a:ext cx="2057400" cy="2011680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 w="1270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17830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0B315B"/>
                </a:solidFill>
                <a:latin typeface="Noto Sans JP"/>
              </a:rPr>
              <a:t>文字を確認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14600"/>
            <a:ext cx="1783080" cy="1417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50" b="0">
                <a:solidFill>
                  <a:srgbClr val="172433"/>
                </a:solidFill>
                <a:latin typeface="Noto Sans JP"/>
              </a:rPr>
              <a:t>直す・消す。確認するまでAIに渡さない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78608" y="3017520"/>
            <a:ext cx="210312" cy="0"/>
          </a:xfrm>
          <a:prstGeom prst="line">
            <a:avLst/>
          </a:prstGeom>
          <a:ln w="28575">
            <a:solidFill>
              <a:srgbClr val="2F80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788920" y="2011680"/>
            <a:ext cx="2057400" cy="2011680"/>
          </a:xfrm>
          <a:prstGeom prst="roundRect">
            <a:avLst>
              <a:gd name="adj" fmla="val 6000"/>
            </a:avLst>
          </a:prstGeom>
          <a:solidFill>
            <a:srgbClr val="EAF5FC"/>
          </a:solidFill>
          <a:ln w="12700">
            <a:solidFill>
              <a:srgbClr val="36A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79" y="2103120"/>
            <a:ext cx="17830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0B315B"/>
                </a:solidFill>
                <a:latin typeface="Noto Sans JP"/>
              </a:rPr>
              <a:t>AIが提案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79" y="2514600"/>
            <a:ext cx="1783080" cy="1417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50" b="0">
                <a:solidFill>
                  <a:srgbClr val="172433"/>
                </a:solidFill>
                <a:latin typeface="Noto Sans JP"/>
              </a:rPr>
              <a:t>「私はこう理解しました」＋会話の引用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864608" y="3017520"/>
            <a:ext cx="210312" cy="0"/>
          </a:xfrm>
          <a:prstGeom prst="line">
            <a:avLst/>
          </a:prstGeom>
          <a:ln w="28575">
            <a:solidFill>
              <a:srgbClr val="2F80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074920" y="2011680"/>
            <a:ext cx="2057400" cy="2011680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 w="1270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0" y="2103120"/>
            <a:ext cx="17830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0B315B"/>
                </a:solidFill>
                <a:latin typeface="Noto Sans JP"/>
              </a:rPr>
              <a:t>作り手が応答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2514600"/>
            <a:ext cx="1783080" cy="1417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50" b="0">
                <a:solidFill>
                  <a:srgbClr val="172433"/>
                </a:solidFill>
                <a:latin typeface="Noto Sans JP"/>
              </a:rPr>
              <a:t>合っている／一部違う／違う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150608" y="3017520"/>
            <a:ext cx="210312" cy="0"/>
          </a:xfrm>
          <a:prstGeom prst="line">
            <a:avLst/>
          </a:prstGeom>
          <a:ln w="28575">
            <a:solidFill>
              <a:srgbClr val="2F80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60920" y="2011680"/>
            <a:ext cx="2057400" cy="2011680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 w="12700">
            <a:solidFill>
              <a:srgbClr val="D8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0" y="2103120"/>
            <a:ext cx="17830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0B315B"/>
                </a:solidFill>
                <a:latin typeface="Noto Sans JP"/>
              </a:rPr>
              <a:t>直して再提案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0" y="2514600"/>
            <a:ext cx="1783080" cy="1417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50" b="0">
                <a:solidFill>
                  <a:srgbClr val="172433"/>
                </a:solidFill>
                <a:latin typeface="Noto Sans JP"/>
              </a:rPr>
              <a:t>2回続けて違えば、AIは止まる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436608" y="3017520"/>
            <a:ext cx="210312" cy="0"/>
          </a:xfrm>
          <a:prstGeom prst="line">
            <a:avLst/>
          </a:prstGeom>
          <a:ln w="28575">
            <a:solidFill>
              <a:srgbClr val="2F80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646920" y="2011680"/>
            <a:ext cx="2057400" cy="2011680"/>
          </a:xfrm>
          <a:prstGeom prst="roundRect">
            <a:avLst>
              <a:gd name="adj" fmla="val 6000"/>
            </a:avLst>
          </a:prstGeom>
          <a:solidFill>
            <a:srgbClr val="EFF8F3"/>
          </a:solidFill>
          <a:ln w="12700">
            <a:solidFill>
              <a:srgbClr val="A6D6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0" y="2103120"/>
            <a:ext cx="17830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0B315B"/>
                </a:solidFill>
                <a:latin typeface="Noto Sans JP"/>
              </a:rPr>
              <a:t>承認して下書き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2514600"/>
            <a:ext cx="1783080" cy="1417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50" b="0">
                <a:solidFill>
                  <a:srgbClr val="172433"/>
                </a:solidFill>
                <a:latin typeface="Noto Sans JP"/>
              </a:rPr>
              <a:t>通知案・点検日・入力欄・資料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0B315B"/>
                </a:solidFill>
                <a:latin typeface="Noto Sans JP"/>
              </a:rPr>
              <a:t>「違う」は記録して、同意率として測る。判断が思いと合っているかの物差しにする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320040"/>
            <a:ext cx="10671048" cy="5669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000" b="1">
                <a:solidFill>
                  <a:srgbClr val="172433"/>
                </a:solidFill>
                <a:latin typeface="Noto Sans JP"/>
              </a:rPr>
              <a:t>費用と速さ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914400"/>
            <a:ext cx="11247120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25" b="1">
                <a:solidFill>
                  <a:srgbClr val="2F80C9"/>
                </a:solidFill>
                <a:latin typeface="Noto Sans JP"/>
              </a:rPr>
              <a:t>役割ごとに、安いモデルから順に試す。1件あたりの原価を記録する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93424" y="6400800"/>
            <a:ext cx="329184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50" b="0">
                <a:solidFill>
                  <a:srgbClr val="5B6B7D"/>
                </a:solidFill>
                <a:latin typeface="Noto Sans JP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91640"/>
            <a:ext cx="2478024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3400" b="1">
                <a:solidFill>
                  <a:srgbClr val="16805B"/>
                </a:solidFill>
                <a:latin typeface="Noto Sans JP"/>
              </a:rPr>
              <a:t>$0.055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423160"/>
            <a:ext cx="247802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50" b="0">
                <a:solidFill>
                  <a:srgbClr val="5B6B7D"/>
                </a:solidFill>
                <a:latin typeface="Noto Sans JP"/>
              </a:rPr>
              <a:t>資料とメールの下書き 1 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74136" y="1691640"/>
            <a:ext cx="2478024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3400" b="1">
                <a:solidFill>
                  <a:srgbClr val="16805B"/>
                </a:solidFill>
                <a:latin typeface="Noto Sans JP"/>
              </a:rPr>
              <a:t>$0.0007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74136" y="2423160"/>
            <a:ext cx="247802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50" b="0">
                <a:solidFill>
                  <a:srgbClr val="5B6B7D"/>
                </a:solidFill>
                <a:latin typeface="Noto Sans JP"/>
              </a:rPr>
              <a:t>電話の声を文字にする 1 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1344" y="1691640"/>
            <a:ext cx="2478024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3400" b="1">
                <a:solidFill>
                  <a:srgbClr val="16805B"/>
                </a:solidFill>
                <a:latin typeface="Noto Sans JP"/>
              </a:rPr>
              <a:t>約 $0.02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81344" y="2423160"/>
            <a:ext cx="247802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50" b="0">
                <a:solidFill>
                  <a:srgbClr val="5B6B7D"/>
                </a:solidFill>
                <a:latin typeface="Noto Sans JP"/>
              </a:rPr>
              <a:t>表を作り直すとき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88551" y="1691640"/>
            <a:ext cx="2478024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3400" b="1">
                <a:solidFill>
                  <a:srgbClr val="16805B"/>
                </a:solidFill>
                <a:latin typeface="Noto Sans JP"/>
              </a:rPr>
              <a:t>885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88551" y="2423160"/>
            <a:ext cx="2478024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50" b="0">
                <a:solidFill>
                  <a:srgbClr val="5B6B7D"/>
                </a:solidFill>
                <a:latin typeface="Noto Sans JP"/>
              </a:rPr>
              <a:t>自動テスト（全通過）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48640" y="3291840"/>
          <a:ext cx="11064240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138160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Noto Sans JP"/>
                        </a:rPr>
                        <a:t>役割</a:t>
                      </a:r>
                    </a:p>
                  </a:txBody>
                  <a:tcPr marL="73152" marR="73152" marT="36576" marB="36576" anchor="ctr">
                    <a:solidFill>
                      <a:srgbClr val="0B31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Noto Sans JP"/>
                        </a:rPr>
                        <a:t>選び方と原価</a:t>
                      </a:r>
                    </a:p>
                  </a:txBody>
                  <a:tcPr marL="73152" marR="73152" marT="36576" marB="36576" anchor="ctr">
                    <a:solidFill>
                      <a:srgbClr val="0B315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72433"/>
                          </a:solidFill>
                          <a:latin typeface="Noto Sans JP"/>
                        </a:rPr>
                        <a:t>会話から次の業務を考える</a:t>
                      </a:r>
                    </a:p>
                  </a:txBody>
                  <a:tcPr marL="73152" marR="73152" marT="36576" marB="36576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72433"/>
                          </a:solidFill>
                          <a:latin typeface="Noto Sans JP"/>
                        </a:rPr>
                        <a:t>6モデルを比べ、1件 $0.0005〜$0.0123。会話は個人情報を含みやすいので Claude を先に</a:t>
                      </a:r>
                    </a:p>
                  </a:txBody>
                  <a:tcPr marL="73152" marR="73152" marT="36576" marB="36576" anchor="ctr">
                    <a:solidFill>
                      <a:srgbClr val="F4F8FC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72433"/>
                          </a:solidFill>
                          <a:latin typeface="Noto Sans JP"/>
                        </a:rPr>
                        <a:t>開けた面積の判定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72433"/>
                          </a:solidFill>
                          <a:latin typeface="Noto Sans JP"/>
                        </a:rPr>
                        <a:t>端末が形から測り、サーバーが画素の見積もりと二重に照らす（圧縮の影響を受けない）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72433"/>
                          </a:solidFill>
                          <a:latin typeface="Noto Sans JP"/>
                        </a:rPr>
                        <a:t>承認だけで下書きになる行動</a:t>
                      </a:r>
                    </a:p>
                  </a:txBody>
                  <a:tcPr marL="73152" marR="73152" marT="36576" marB="36576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72433"/>
                          </a:solidFill>
                          <a:latin typeface="Noto Sans JP"/>
                        </a:rPr>
                        <a:t>33%（残りは日付入力。候補はコードが作る）</a:t>
                      </a:r>
                    </a:p>
                  </a:txBody>
                  <a:tcPr marL="73152" marR="73152" marT="36576" marB="36576" anchor="ctr">
                    <a:solidFill>
                      <a:srgbClr val="F4F8FC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72433"/>
                          </a:solidFill>
                          <a:latin typeface="Noto Sans JP"/>
                        </a:rPr>
                        <a:t>経路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72433"/>
                          </a:solidFill>
                          <a:latin typeface="Noto Sans JP"/>
                        </a:rPr>
                        <a:t>Orca Router を主に、Claude 直を予備。判断1件の費用 −32%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72433"/>
                          </a:solidFill>
                          <a:latin typeface="Noto Sans JP"/>
                        </a:rPr>
                        <a:t>表の形が決まらないとき</a:t>
                      </a:r>
                    </a:p>
                  </a:txBody>
                  <a:tcPr marL="73152" marR="73152" marT="36576" marB="36576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72433"/>
                          </a:solidFill>
                          <a:latin typeface="Noto Sans JP"/>
                        </a:rPr>
                        <a:t>2〜3 通りの候補を作り、Excel の複数シートに分ける（約 $0.02）</a:t>
                      </a:r>
                    </a:p>
                  </a:txBody>
                  <a:tcPr marL="73152" marR="73152" marT="36576" marB="36576" anchor="ctr">
                    <a:solidFill>
                      <a:srgbClr val="F4F8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320040"/>
            <a:ext cx="10671048" cy="5669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000" b="1">
                <a:solidFill>
                  <a:srgbClr val="172433"/>
                </a:solidFill>
                <a:latin typeface="Noto Sans JP"/>
              </a:rPr>
              <a:t>5つの評価軸との対応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914400"/>
            <a:ext cx="11247120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25" b="1">
                <a:solidFill>
                  <a:srgbClr val="2F80C9"/>
                </a:solidFill>
                <a:latin typeface="Noto Sans JP"/>
              </a:rPr>
              <a:t>自律性・セキュリティ・コスト・信頼性・独創性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93424" y="6400800"/>
            <a:ext cx="329184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50" b="0">
                <a:solidFill>
                  <a:srgbClr val="5B6B7D"/>
                </a:solidFill>
                <a:latin typeface="Noto Sans JP"/>
              </a:rPr>
              <a:t>11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554480"/>
          <a:ext cx="1124712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9235440"/>
              </a:tblGrid>
              <a:tr h="822960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Noto Sans JP"/>
                        </a:rPr>
                        <a:t>軸</a:t>
                      </a:r>
                    </a:p>
                  </a:txBody>
                  <a:tcPr marL="73152" marR="73152" marT="36576" marB="36576" anchor="ctr">
                    <a:solidFill>
                      <a:srgbClr val="0B31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Noto Sans JP"/>
                        </a:rPr>
                        <a:t>この構成での実現</a:t>
                      </a:r>
                    </a:p>
                  </a:txBody>
                  <a:tcPr marL="73152" marR="73152" marT="36576" marB="36576" anchor="ctr">
                    <a:solidFill>
                      <a:srgbClr val="0B315B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172433"/>
                          </a:solidFill>
                          <a:latin typeface="Noto Sans JP"/>
                        </a:rPr>
                        <a:t>自律性</a:t>
                      </a:r>
                    </a:p>
                  </a:txBody>
                  <a:tcPr marL="73152" marR="73152" marT="36576" marB="36576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72433"/>
                          </a:solidFill>
                          <a:latin typeface="Noto Sans JP"/>
                        </a:rPr>
                        <a:t>会話と画面から、次の業務・資料・メールの下書き・次の選択肢まで、AIが組み立てる。実行は人が押す</a:t>
                      </a:r>
                    </a:p>
                  </a:txBody>
                  <a:tcPr marL="73152" marR="73152" marT="36576" marB="36576" anchor="ctr">
                    <a:solidFill>
                      <a:srgbClr val="F4F8FC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172433"/>
                          </a:solidFill>
                          <a:latin typeface="Noto Sans JP"/>
                        </a:rPr>
                        <a:t>セキュリティ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72433"/>
                          </a:solidFill>
                          <a:latin typeface="Noto Sans JP"/>
                        </a:rPr>
                        <a:t>端末で隠す／既定オフ・確認・同意・承認／共有先を限定／Gmailの作成画面へのリンク／AIに渡さない操作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172433"/>
                          </a:solidFill>
                          <a:latin typeface="Noto Sans JP"/>
                        </a:rPr>
                        <a:t>コスパ</a:t>
                      </a:r>
                    </a:p>
                  </a:txBody>
                  <a:tcPr marL="73152" marR="73152" marT="36576" marB="36576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72433"/>
                          </a:solidFill>
                          <a:latin typeface="Noto Sans JP"/>
                        </a:rPr>
                        <a:t>役割ごとにモデルを使い分け。統合分析 1 回 約 $0.055、音声 1 回 $0.0007。資料の生成はコード</a:t>
                      </a:r>
                    </a:p>
                  </a:txBody>
                  <a:tcPr marL="73152" marR="73152" marT="36576" marB="36576" anchor="ctr">
                    <a:solidFill>
                      <a:srgbClr val="F4F8FC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172433"/>
                          </a:solidFill>
                          <a:latin typeface="Noto Sans JP"/>
                        </a:rPr>
                        <a:t>信頼性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72433"/>
                          </a:solidFill>
                          <a:latin typeface="Noto Sans JP"/>
                        </a:rPr>
                        <a:t>引用の照合・失敗時は下書きを作らない・変異テスト・同時実行 72 件で失敗 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172433"/>
                          </a:solidFill>
                          <a:latin typeface="Noto Sans JP"/>
                        </a:rPr>
                        <a:t>独創性</a:t>
                      </a:r>
                    </a:p>
                  </a:txBody>
                  <a:tcPr marL="73152" marR="73152" marT="36576" marB="36576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172433"/>
                          </a:solidFill>
                          <a:latin typeface="Noto Sans JP"/>
                        </a:rPr>
                        <a:t>音声 × フィルター後の画面 × 赤丸 × Excel・Word・メール × 次の選択肢</a:t>
                      </a:r>
                    </a:p>
                  </a:txBody>
                  <a:tcPr marL="73152" marR="73152" marT="36576" marB="36576" anchor="ctr">
                    <a:solidFill>
                      <a:srgbClr val="F4F8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2336" y="320040"/>
            <a:ext cx="10671048" cy="5669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000" b="1">
                <a:solidFill>
                  <a:srgbClr val="172433"/>
                </a:solidFill>
                <a:latin typeface="Noto Sans JP"/>
              </a:rPr>
              <a:t>まとめ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914400"/>
            <a:ext cx="11247120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25" b="1">
                <a:solidFill>
                  <a:srgbClr val="2F80C9"/>
                </a:solidFill>
                <a:latin typeface="Noto Sans JP"/>
              </a:rPr>
              <a:t>物が経緯を語り、会話から次の業務が組み立つ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93424" y="6400800"/>
            <a:ext cx="329184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50" b="0">
                <a:solidFill>
                  <a:srgbClr val="5B6B7D"/>
                </a:solidFill>
                <a:latin typeface="Noto Sans JP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2926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0">
                <a:solidFill>
                  <a:srgbClr val="172433"/>
                </a:solidFill>
                <a:latin typeface="Noto Sans JP"/>
              </a:rPr>
              <a:t>物にかざすと、担当・記録・経緯が開く</a:t>
            </a:r>
          </a:p>
          <a:p>
            <a:pPr algn="l"/>
            <a:r>
              <a:rPr sz="2000" b="0">
                <a:solidFill>
                  <a:srgbClr val="172433"/>
                </a:solidFill>
                <a:latin typeface="Noto Sans JP"/>
              </a:rPr>
              <a:t>会話と画面から、資料とメールの下書きまで、AIが組み立てる</a:t>
            </a:r>
          </a:p>
          <a:p>
            <a:pPr algn="l"/>
            <a:r>
              <a:rPr sz="2000" b="0">
                <a:solidFill>
                  <a:srgbClr val="172433"/>
                </a:solidFill>
                <a:latin typeface="Noto Sans JP"/>
              </a:rPr>
              <a:t>個人情報は端末で隠し、AIの出力はコードが検査し、確定は人</a:t>
            </a:r>
          </a:p>
          <a:p>
            <a:pPr algn="l"/>
            <a:r>
              <a:rPr sz="2000" b="0">
                <a:solidFill>
                  <a:srgbClr val="172433"/>
                </a:solidFill>
                <a:latin typeface="Noto Sans JP"/>
              </a:rPr>
              <a:t>リポジトリから、そのまま動かせる（開発モード・自動テスト 885 件）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120640"/>
            <a:ext cx="996696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2200" b="1">
                <a:solidFill>
                  <a:srgbClr val="0B315B"/>
                </a:solidFill>
                <a:latin typeface="Noto Sans JP"/>
              </a:rPr>
              <a:t>AIが選び、コードが守り、人が確定する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2026-09-20T07:18:13.0250000Z</dcterms:created>
  <dcterms:modified xsi:type="dcterms:W3CDTF">2026-09-20T07:18:13.0250000Z</dcterms:modified>
</coreProperties>
</file>